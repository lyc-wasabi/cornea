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e8ab545ad4156" /><Relationship Type="http://schemas.openxmlformats.org/officeDocument/2006/relationships/extended-properties" Target="/docProps/app.xml" Id="Rc6791e0a97b44398" /><Relationship Type="http://schemas.openxmlformats.org/officeDocument/2006/relationships/officeDocument" Target="/ppt/presentation.xml" Id="R38a797da984940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171d1ca38849f6"/>
  </p:sldMasterIdLst>
  <p:notesMasterIdLst>
    <p:notesMasterId xmlns:r="http://schemas.openxmlformats.org/officeDocument/2006/relationships" r:id="Rdcdedb0df4024788"/>
  </p:notesMasterIdLst>
  <p:sldIdLst>
    <p:sldId xmlns:r="http://schemas.openxmlformats.org/officeDocument/2006/relationships" id="256" r:id="Rfc0bf8176d154bb1"/>
    <p:sldId xmlns:r="http://schemas.openxmlformats.org/officeDocument/2006/relationships" id="257" r:id="R544316153c574f24"/>
    <p:sldId xmlns:r="http://schemas.openxmlformats.org/officeDocument/2006/relationships" id="258" r:id="Rd8ec6a4861074d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71d1ca38849f6" /><Relationship Type="http://schemas.openxmlformats.org/officeDocument/2006/relationships/theme" Target="/ppt/theme/theme1.xml" Id="Rd302f6770ecd433a" /><Relationship Type="http://schemas.openxmlformats.org/officeDocument/2006/relationships/notesMaster" Target="/ppt/notesMasters/notesMaster1.xml" Id="Rdcdedb0df4024788" /><Relationship Type="http://schemas.openxmlformats.org/officeDocument/2006/relationships/presProps" Target="/ppt/presProps.xml" Id="R35ef7a8c4ca7467c" /><Relationship Type="http://schemas.openxmlformats.org/officeDocument/2006/relationships/viewProps" Target="/ppt/viewProps.xml" Id="R361c02e0f0eb4f94" /><Relationship Type="http://schemas.openxmlformats.org/officeDocument/2006/relationships/tableStyles" Target="/ppt/tableStyles.xml" Id="R86fd2ed73a84472d" /><Relationship Type="http://schemas.openxmlformats.org/officeDocument/2006/relationships/slide" Target="/ppt/slides/slide1.xml" Id="Rfc0bf8176d154bb1" /><Relationship Type="http://schemas.openxmlformats.org/officeDocument/2006/relationships/slide" Target="/ppt/slides/slide2.xml" Id="R544316153c574f24" /><Relationship Type="http://schemas.openxmlformats.org/officeDocument/2006/relationships/slide" Target="/ppt/slides/slide3.xml" Id="Rd8ec6a4861074d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f529c2f16e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56f874a4c84ca4" /><Relationship Type="http://schemas.openxmlformats.org/officeDocument/2006/relationships/notesMaster" Target="/ppt/notesMasters/notesMaster1.xml" Id="Rb51e423b4a6e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62e1cfaac4d36" /><Relationship Type="http://schemas.openxmlformats.org/officeDocument/2006/relationships/notesMaster" Target="/ppt/notesMasters/notesMaster1.xml" Id="R4f9c6bc4ed2c4c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760c4fd7d4ec2" /><Relationship Type="http://schemas.openxmlformats.org/officeDocument/2006/relationships/notesMaster" Target="/ppt/notesMasters/notesMaster1.xml" Id="R6450a1c576c248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44d4762294c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aa679dcdd047b7" /><Relationship Type="http://schemas.openxmlformats.org/officeDocument/2006/relationships/slideLayout" Target="/ppt/slideLayouts/slideLayout2.xml" Id="R177a4053b37c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a4053b37c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4a8b3c8a94a16" /><Relationship Type="http://schemas.openxmlformats.org/officeDocument/2006/relationships/notesSlide" Target="/ppt/notesSlides/notesSlide1.xml" Id="Rad5cc36b1dfb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1e74c33dc4476" /><Relationship Type="http://schemas.openxmlformats.org/officeDocument/2006/relationships/notesSlide" Target="/ppt/notesSlides/notesSlide2.xml" Id="R76d936cb6c43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ca260e6b90480f" /><Relationship Type="http://schemas.openxmlformats.org/officeDocument/2006/relationships/notesSlide" Target="/ppt/notesSlides/notesSlide3.xml" Id="Rddef3da9a8104f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AA859-9F6A-4B8D-B685-312CE4D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MODEL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47C9A-8BAA-4370-91B2-E573978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液膜与角膜接触共同承担动态刮擦载荷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97F5C-93CD-4E98-B00C-1981697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E5A54-E4F4-4931-B2DC-7267951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B8F19-C136-46F5-BB60-B739E1C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3D 动态混合润滑模型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52310-545B-4CB4-89D2-199D7A7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简化剖面示意图，非比例绘制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42533-A6BB-43BC-AD29-477C061D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411480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E7A08-36B7-4C39-A315-87EB829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411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79085-366A-4A4D-9C46-98B9597D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角膜实体球冠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5E93C-F2F1-4DE3-985D-0D60451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角膜缘固定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FC766-91E9-4AFF-B0F5-72B4426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角膜缘固定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0858C-05CB-4BC0-94C6-55B19452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09900"/>
            <a:ext cx="2762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4FF"/>
          </a:solidFill>
          <a:ln xmlns:a="http://schemas.openxmlformats.org/drawingml/2006/main" w="0">
            <a:solidFill>
              <a:srgbClr val="B9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CBC3A-8A24-4881-B493-FAFFC98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液膜  h₀ = 3 μm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8F86E-1A50-45A4-A995-7C8D070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343150"/>
            <a:ext cx="2495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0A202-2029-46EE-9790-67D3B2BC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09825"/>
            <a:ext cx="1962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柔性弧形 lid wiper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A72C4-3450-4191-B891-1DE824B3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0025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弧长 8 mm × 宽 1 mm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30178-B475-44B8-BC34-8082BCC3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371600"/>
            <a:ext cx="2476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6A743-0D5E-44DB-9F08-84E5F4CD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097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位移控制校准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27E435-1DC2-4CAB-AB37-0D8AEDC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3830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Fₙ = 0.03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D7067-6C11-47C6-BB1E-D65E85B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477CE-D537-4522-B0A7-22B7F53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 mmHg 眼压 + 弹性基础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72B59-D0FA-4E20-BB88-A2AE0EB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75C91-A7E6-464C-9E30-5EFB341A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63D59-BF9A-4497-B4D1-A92F788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运动范围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561EC-B5EA-4504-BC45-1D7CD19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-35° → +35°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19ADD-DD15-445D-B0DC-5B87631F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0BEC9C-B8BF-4960-8CE4-B9CE48DE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动态时长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6E5AFF-B87A-4B9F-A795-0E12E33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0.53 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1C96E-131F-4C41-88B3-FFDDFCD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B2CA38-469B-4532-BE35-61A3F08F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目标法向载荷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21CC6-C3A7-4A0D-B5C6-BADC682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0.030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E3FCAD-8DF1-4078-9E47-49FE55F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CF52E-D93A-4EC2-A39B-F614CD9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角膜后表面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F758EA-B430-4CE9-A620-DB46D32E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 mmHg + 弹性基础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3E45C-C00E-4EE0-885F-AABA2A2C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08A48F-C1D7-4982-ABA6-1A8714FE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角膜粗糙度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B96D27-4ACD-4222-A234-DB1F5698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 nm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0EC9AE-B9D6-4744-BB6C-1AC82C7B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84E2D1-3FBB-4DF8-BB95-8660F2A9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Lid wiper 粗糙度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FADB8F-38AF-49C3-A0BD-2D4AC64E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40 nm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D7970D-3831-420C-A50F-69719CA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43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F93960-ECF5-4D87-9AA3-BA8B6535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61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刮擦头作为完整柔体绕角膜球心连续转动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E9BDB-BDDD-40B8-A500-31BF3A72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67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4A793F-6283-4F48-A8FB-580452E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81650"/>
            <a:ext cx="4610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接触区局部网格加密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2A0717-A492-4184-B71F-32C255A4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16CADE-7931-4541-A9FE-D8E1138F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COMSOL Stage 62 full partitioned-feedback result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462DA8-16B2-4AD6-8130-3301997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2128340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15791-4046-42B2-8AC7-C9DC342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PARTITIONED COUPLING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A9978-9E0A-44F8-8714-82819EF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动态 gap 驱动液膜压力，并反馈至结构接触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112F9-8B4A-44E2-832D-E588947E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562A0-99D5-4F75-8E79-769ADFA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2B53-5C29-44CE-AFC2-E7D56883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828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79A9F-E889-4AB3-8004-2C3B5057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1FE68-A5D0-49CD-82EF-1BEA6C61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结构动态刮擦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5E3E8-FEDD-4599-A092-E62FECD0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柔体 lid wiper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沿角膜表面移动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E3520-BBAB-47AF-A83A-9AE2443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9332C-FB6F-4BC1-ACB0-A3AC5793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47850"/>
            <a:ext cx="1828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ED9D9-C193-41AF-B400-1E165E76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81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EFD38-C7BB-454C-96BB-1715ED0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提取动态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0B6E2-6E81-4C4C-9F28-BA4C8B5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gap(x,y,t)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来自接触对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76877-1314-4FCB-BE63-37189E6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11A5D-49DF-4566-8634-5338885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1828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0F11B-BDCF-409D-AD0E-8FFBE791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81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73601-0B55-4FD2-BBA8-70C685B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4315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更新局部膜厚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AD308-2C5F-4480-AD1D-89653B56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 = h₀ + gap + Rq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57F25-E1C7-49BD-BD95-04D09ED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23933-A244-4E80-9AF7-0A326C5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47850"/>
            <a:ext cx="1828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EDCC3-8950-4848-AA35-3FC0F982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81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04E87-A677-4AB1-8A93-21ED8ACE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求解薄膜压力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2447-14A6-45D7-8D97-AB9DF55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准稳态 Reynolds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薄膜流回放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C09C6-2CBF-44F4-A97A-A4D310B3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CC414-DC6D-4F82-9A68-0D7EDF28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47850"/>
            <a:ext cx="18288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63812-ABB3-4340-AD8D-BC184BA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81200"/>
            <a:ext cx="28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94884-F420-4A0B-A7F5-709C1C1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膜压反馈结构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BC3CA-9E9D-48D0-855A-3005790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003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pfilm(x,y,t)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施加至角膜表面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17968-61D9-4762-8E66-41400E6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局部液膜厚度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DE873-BC5C-4F91-B0A5-BFC33E55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457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946B46-1BDA-47AA-B66D-46454FE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h(x,y,t) = h₀,tear + gap(x,y,t) + Rq,eq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82AD9-FB8F-4ED1-AAD7-77B89F3D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h₀,tear = 3 μm     Rq,eq = √(Rq,cornea² + Rq,lid²)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0A47F6-35B9-4248-A90C-9F5E9478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收敛策略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BAB14D-3040-4480-B235-DB4C5B0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48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5E3C28-B000-4F4A-8C74-D15E0612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470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局部膜压逐级回灌：10% → 25% → 50% → 100%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F7799E-B560-4B1B-AED9-B1F43A67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0281F1-F450-442C-BCA3-1613FB6E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470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相邻液膜压力快照线性插值，减少接触状态突变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59A02F-72DD-4BDF-A03C-9294940F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72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8FF2D7-5082-4C7B-B1C0-F80E49E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86350"/>
            <a:ext cx="470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完整 100% 局部膜压反馈已收敛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439688-29F3-4660-AE63-D950174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结构接触解与薄膜流解采用分区迭代闭环。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3E399B-9C07-4E78-9E74-76904C2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B62954-0354-4053-83F4-B4CDBBB2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COMSOL Stage 62 full partitioned-feedback result model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20521-6743-448A-8981-4688953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884516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E50F9-A0B2-4C57-8E99-FCFDE2A6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CONVERGED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23A86-7EB6-478B-A97E-1014406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完整膜压反馈收敛，总法向载荷峰值偏差约 2.35%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6F9BC-D011-43BC-A21A-5F78EA8B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04186-D39E-4C9B-B13E-AC61262B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238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D6266-44AC-4248-9108-89DD7386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法向载荷控制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0C5BB-F39C-49D3-BD1C-93602C13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目标载荷 0.030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A9DEE-C01E-4D9A-8795-1EF2701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00ACB-5702-459F-A088-0A39AD72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43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2228A-DB03-4143-8A7F-240158F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BB94-9845-42A0-882C-84E8F99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7F5BA-51E1-4230-BDEF-5A6B1A76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0.030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E7914-1038-4EBF-B596-699B815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总法向载荷范围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0BD38-0849-4D81-9262-04E110E9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0.030000 – 0.030704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784B2-400C-480A-B26A-648F31C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峰值相对目标偏差约 2.35%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016E9-E2B0-4B1B-A0D8-8661E7A0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4667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0F3F0-C741-4A98-BBA9-0964E736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最终输出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A2D60-C7A1-48C8-91AF-BD58B25A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0.030704 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3BB0E-9135-4BDB-8166-71FC0B21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液膜承载峰值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EA902-3288-46E7-871F-1B081AD2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0.002178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722E8-A44D-40E5-B7A1-F2F38B64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液膜剪切力峰值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9EC77-44CE-4613-A502-A214050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19526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0.002330 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EF107-D857-4B22-A5B4-9E09717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总摩擦力峰值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52E63-CB4F-4E69-A2C9-D11DBA6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0.0200 – 0.07767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17520-737B-4A92-9C37-FF0F821E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表观摩擦系数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3B9B3-AB8D-41CB-BEF0-BA2C4364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当前模型定位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ABA5A-FAC3-4729-916F-9BFD6EB1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EEE9F4-CB9E-4759-8B52-46073E5E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556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稳定的 3D 动态分区迭代耦合模型，不是单体求解器强耦合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B8E45-E22A-4C07-83B0-B3BF2CC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E6786-6C69-4FFA-B548-2BCC7A69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液膜采用准稳态回放；摩擦力仍含残余边界接触项 μ = 0.02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2F63AE-98BD-4DED-89B5-1CFE2F9E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47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下一步：加入统计粗糙峰接触模型，并扫描初始膜厚、速度和法向载荷。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730C7-A005-4528-BE56-5CB923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9B0ABA-B28D-4025-BA9D-D7B06798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Source: COMSOL Stage 62 full partitioned-feedback result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7804F-8B40-4B6A-AA1C-3DC8F0D7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1015789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2026-06-01T16:58:03.3210000Z</dcterms:created>
  <dcterms:modified xsi:type="dcterms:W3CDTF">2026-06-01T16:58:03.3210000Z</dcterms:modified>
</coreProperties>
</file>